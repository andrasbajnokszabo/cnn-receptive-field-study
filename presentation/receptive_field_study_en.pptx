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658368"/>
            <a:ext cx="3474720" cy="3474720"/>
          </a:xfrm>
          <a:prstGeom prst="ellipse">
            <a:avLst/>
          </a:prstGeom>
          <a:solidFill>
            <a:srgbClr val="0D2238">
              <a:alpha val="0"/>
            </a:srgbClr>
          </a:solidFill>
          <a:ln w="15240">
            <a:solidFill>
              <a:srgbClr val="167CA7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326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Receptive Field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Convolutional Neural Networks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" y="2423160"/>
            <a:ext cx="5897880" cy="1463040"/>
          </a:xfrm>
          <a:prstGeom prst="rect">
            <a:avLst/>
          </a:prstGeom>
          <a:solidFill>
            <a:srgbClr val="18334E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7919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Datasets: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 · CIFAR-10 · CIFAR-100
</a:t>
            </a:r>
            <a:pPr indent="0" marL="0">
              <a:buNone/>
            </a:pPr>
            <a:r>
              <a:rPr lang="en-US" sz="130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SimpleCNN · DeepCNN · DepthwiseCNN
</a:t>
            </a:r>
            <a:pPr indent="0" marL="0">
              <a:buNone/>
            </a:pPr>
            <a:r>
              <a:rPr lang="en-US" sz="130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 sizes: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· 2 · 3 · 5 · 7 · 9 · 11 · 15 · 21 · 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1447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3C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90 training runs · 5 epochs · AdamW optimizer · CrossEntropyLoss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5166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Portfolio mini-study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Experiment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261872"/>
            <a:ext cx="3749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261872"/>
            <a:ext cx="3749040" cy="338328"/>
          </a:xfrm>
          <a:prstGeom prst="rect">
            <a:avLst/>
          </a:prstGeom>
          <a:solidFill>
            <a:srgbClr val="1E79B7"/>
          </a:solidFill>
          <a:ln w="12700">
            <a:solidFill>
              <a:srgbClr val="1E7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32588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Datasets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" y="1700784"/>
            <a:ext cx="3456432" cy="3950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 - 28×28 grayscale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60,000 train / 10,000 test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CIFAR-10 - 32×32 RGB, 10 classes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50,000 train / 10,000 test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CIFAR-100 - 32×32 RGB, 100 classes</a:t>
            </a:r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50,000 train / 10,000 test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Preprocessing: ToTensor() + Normalize()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24528" y="1261872"/>
            <a:ext cx="3749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24528" y="1261872"/>
            <a:ext cx="3749040" cy="338328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32588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70832" y="1700784"/>
            <a:ext cx="3456432" cy="3950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SimpleCNN - 1 convolutional layer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- 3 convolutional layers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DepthwiseCNN - 3 depthwise-separable blocks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Global Average Pooling makes the architectures compatible with both 28×28 and 32×32 inputs.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9872" y="1261872"/>
            <a:ext cx="3749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19872" y="1261872"/>
            <a:ext cx="3749040" cy="338328"/>
          </a:xfrm>
          <a:prstGeom prst="rect">
            <a:avLst/>
          </a:prstGeom>
          <a:solidFill>
            <a:srgbClr val="169BD5"/>
          </a:solidFill>
          <a:ln w="12700">
            <a:solidFill>
              <a:srgbClr val="16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32588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66176" y="1700784"/>
            <a:ext cx="3456432" cy="3950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accuracy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Macro-F1 score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Trainable parameter count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Training time (s)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Theoretical convolution-stack receptive field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 sizes k ∈ {1, 2, 3, 5, 7, 9, 11, 15, 21, 28}  ·  3 datasets × 3 models × 10 kernels = 90 runs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280160"/>
            <a:ext cx="11475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0"/>
            <a:ext cx="64008" cy="135331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389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SimpleCNN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6642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1380744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Shallow baseline with one kernel-size-dependent convolutional layer.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74520" y="1755648"/>
            <a:ext cx="97383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837944"/>
            <a:ext cx="9518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Conv(k) → BN → ReLU → MaxPool → GAP → FC(32→64) → FC(64→C)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92808" y="2167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Small RF · fast training · low parameter count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11475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743200"/>
            <a:ext cx="64008" cy="135331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852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127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1 + 3(k−1)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2843784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kernel-size-dependent convolutions with 32→64→128 channels.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3218688"/>
            <a:ext cx="97383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3300984"/>
            <a:ext cx="9518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Conv(k)×3 → BN → ReLU → MaxPool×2 → GAP → FC(128→128) → FC→C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808" y="363016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Larger RF and capacity · highest accuracy · expensive for large kernels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320040" y="4206240"/>
            <a:ext cx="114757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206240"/>
            <a:ext cx="64008" cy="135331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DepthwiseCNN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" y="45902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1 + 3(k−1)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4306824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depthwise-separable blocks: depthwise spatial filtering + 1×1 pointwise mixing.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74520" y="4681728"/>
            <a:ext cx="97383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4248" y="4764024"/>
            <a:ext cx="9518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[DW(k) + PW(1×1)] ×3 → MaxPool×2 → GAP → FC(128→128) → FC→C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92808" y="509320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Same convolution-stack RF as DeepCNN · far fewer parameters for large kernels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 vs. Depthwise Convolution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7818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34440"/>
            <a:ext cx="64008" cy="1325880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SimpleCNN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618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1335024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standard convolutional layer.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74520" y="1709928"/>
            <a:ext cx="60807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792224"/>
            <a:ext cx="5861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Conv(k) → BN → ReLU → MaxPool → GAP → FC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92808" y="2121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 convolution mixes spatial and channel information jointly.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7818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697480"/>
            <a:ext cx="64008" cy="1325880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0815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1 + 3(k−1)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2798064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Three standard convolutions.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3172968"/>
            <a:ext cx="60807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4248" y="3255264"/>
            <a:ext cx="5861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Conv(k)×3 → BN → ReLU → MaxPool×2 → GAP → FC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808" y="3584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filter spans all input channels, so cost grows rapidly with k².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7818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160520"/>
            <a:ext cx="64008" cy="1325880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270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DepthwiseCNN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" y="45445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 = 1 + 3(k−1)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4261104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 spatial filters followed by pointwise channel mixing.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74520" y="4636008"/>
            <a:ext cx="6080760" cy="329184"/>
          </a:xfrm>
          <a:prstGeom prst="rect">
            <a:avLst/>
          </a:prstGeom>
          <a:solidFill>
            <a:srgbClr val="EDF1F4"/>
          </a:solidFill>
          <a:ln w="8890">
            <a:solidFill>
              <a:srgbClr val="CA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4248" y="4718304"/>
            <a:ext cx="5861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4434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[DW(k) + PW(1×1)] ×3 → MaxPool×2 → GAP → FC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92808" y="50474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Spatial filtering is channel-wise; 1×1 convolutions combine channels afterward.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412480" y="1920240"/>
            <a:ext cx="3291840" cy="2743200"/>
          </a:xfrm>
          <a:prstGeom prst="rect">
            <a:avLst/>
          </a:prstGeom>
          <a:solidFill>
            <a:srgbClr val="18A8D2"/>
          </a:solidFill>
          <a:ln w="12700">
            <a:solidFill>
              <a:srgbClr val="0D7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2331720"/>
            <a:ext cx="26517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 convolution learns spatial patterns and cross-channel relationships at the same time.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filter operates across all input channels simultaneously.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3200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22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Depthwise Convolution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88920" y="960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Depthwise convolution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23560" y="960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Output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01000" y="960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4. Pointwise convolution (1×1)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0" y="960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5. Final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960120" cy="1508760"/>
          </a:xfrm>
          <a:prstGeom prst="rect">
            <a:avLst/>
          </a:prstGeom>
          <a:solidFill>
            <a:srgbClr val="A9D5F0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1755648"/>
            <a:ext cx="960120" cy="1508760"/>
          </a:xfrm>
          <a:prstGeom prst="rect">
            <a:avLst/>
          </a:prstGeom>
          <a:solidFill>
            <a:srgbClr val="BFE6C6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" y="1682496"/>
            <a:ext cx="960120" cy="1508760"/>
          </a:xfrm>
          <a:prstGeom prst="rect">
            <a:avLst/>
          </a:prstGeom>
          <a:solidFill>
            <a:srgbClr val="F2C9C9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 channels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 × 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640080" cy="502920"/>
          </a:xfrm>
          <a:prstGeom prst="rect">
            <a:avLst/>
          </a:prstGeom>
          <a:solidFill>
            <a:srgbClr val="F2C9C9"/>
          </a:solidFill>
          <a:ln w="12700">
            <a:solidFill>
              <a:srgbClr val="7B87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901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2468880"/>
            <a:ext cx="640080" cy="502920"/>
          </a:xfrm>
          <a:prstGeom prst="rect">
            <a:avLst/>
          </a:prstGeom>
          <a:solidFill>
            <a:srgbClr val="BFE6C6"/>
          </a:solidFill>
          <a:ln w="12700">
            <a:solidFill>
              <a:srgbClr val="7B87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5877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3154680"/>
            <a:ext cx="640080" cy="502920"/>
          </a:xfrm>
          <a:prstGeom prst="rect">
            <a:avLst/>
          </a:prstGeom>
          <a:solidFill>
            <a:srgbClr val="A9D5F0"/>
          </a:solidFill>
          <a:ln w="12700">
            <a:solidFill>
              <a:srgbClr val="7B87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32735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Filter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69080" y="23408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×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828800"/>
            <a:ext cx="960120" cy="1508760"/>
          </a:xfrm>
          <a:prstGeom prst="rect">
            <a:avLst/>
          </a:prstGeom>
          <a:solidFill>
            <a:srgbClr val="A9D5F0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1755648"/>
            <a:ext cx="960120" cy="1508760"/>
          </a:xfrm>
          <a:prstGeom prst="rect">
            <a:avLst/>
          </a:prstGeom>
          <a:solidFill>
            <a:srgbClr val="BFE6C6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4184" y="1682496"/>
            <a:ext cx="960120" cy="1508760"/>
          </a:xfrm>
          <a:prstGeom prst="rect">
            <a:avLst/>
          </a:prstGeom>
          <a:solidFill>
            <a:srgbClr val="F2C9C9">
              <a:alpha val="95000"/>
            </a:srgbClr>
          </a:solidFill>
          <a:ln w="10160">
            <a:solidFill>
              <a:srgbClr val="6B7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same number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 channels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43800" y="24048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×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412480" y="2240280"/>
            <a:ext cx="164592" cy="594360"/>
          </a:xfrm>
          <a:prstGeom prst="rect">
            <a:avLst/>
          </a:prstGeom>
          <a:solidFill>
            <a:srgbClr val="B9DCEB"/>
          </a:solidFill>
          <a:ln w="6350">
            <a:solidFill>
              <a:srgbClr val="7B87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31352" y="2240280"/>
            <a:ext cx="164592" cy="594360"/>
          </a:xfrm>
          <a:prstGeom prst="rect">
            <a:avLst/>
          </a:prstGeom>
          <a:solidFill>
            <a:srgbClr val="D9E7F3"/>
          </a:solidFill>
          <a:ln w="6350">
            <a:solidFill>
              <a:srgbClr val="7B87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50224" y="2240280"/>
            <a:ext cx="164592" cy="594360"/>
          </a:xfrm>
          <a:prstGeom prst="rect">
            <a:avLst/>
          </a:prstGeom>
          <a:solidFill>
            <a:srgbClr val="B9DCEB"/>
          </a:solidFill>
          <a:ln w="6350">
            <a:solidFill>
              <a:srgbClr val="7B87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9096" y="2240280"/>
            <a:ext cx="164592" cy="594360"/>
          </a:xfrm>
          <a:prstGeom prst="rect">
            <a:avLst/>
          </a:prstGeom>
          <a:solidFill>
            <a:srgbClr val="D9E7F3"/>
          </a:solidFill>
          <a:ln w="6350">
            <a:solidFill>
              <a:srgbClr val="7B879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87968" y="2240280"/>
            <a:ext cx="164592" cy="594360"/>
          </a:xfrm>
          <a:prstGeom prst="rect">
            <a:avLst/>
          </a:prstGeom>
          <a:solidFill>
            <a:srgbClr val="B9DCEB"/>
          </a:solidFill>
          <a:ln w="6350">
            <a:solidFill>
              <a:srgbClr val="7B879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1×1 filters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469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561320" y="1783080"/>
            <a:ext cx="960120" cy="1554480"/>
          </a:xfrm>
          <a:prstGeom prst="rect">
            <a:avLst/>
          </a:prstGeom>
          <a:solidFill>
            <a:srgbClr val="C6B6E4"/>
          </a:solidFill>
          <a:ln w="11430">
            <a:solidFill>
              <a:srgbClr val="6B5A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 channels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091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40080" y="4709160"/>
            <a:ext cx="5394960" cy="1463040"/>
          </a:xfrm>
          <a:prstGeom prst="roundRect">
            <a:avLst>
              <a:gd name="adj" fmla="val 3125"/>
            </a:avLst>
          </a:prstGeom>
          <a:solidFill>
            <a:srgbClr val="F4F7FA"/>
          </a:solidFill>
          <a:ln w="12700">
            <a:solidFill>
              <a:srgbClr val="AAB8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56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9B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5285232"/>
            <a:ext cx="4846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Depthwise: one spatial 2D convolution per input channel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Channels are not mixed during the spatial step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Pointwise 1×1 convolution then combines channels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The spatial receptive field is unchanged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4709160"/>
            <a:ext cx="5257800" cy="1463040"/>
          </a:xfrm>
          <a:prstGeom prst="roundRect">
            <a:avLst>
              <a:gd name="adj" fmla="val 3125"/>
            </a:avLst>
          </a:prstGeom>
          <a:solidFill>
            <a:srgbClr val="F7FAF4"/>
          </a:solidFill>
          <a:ln w="12700">
            <a:solidFill>
              <a:srgbClr val="B7C7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956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37960" y="528523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Fewer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Lower computational cost (FLOPs)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Faster, more efficient 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Used in architectures such as MobileNet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 Results - Test Accuracy &amp; Macro-F1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Accuracy vs. Kernel Size</a:t>
            </a:r>
            <a:endParaRPr lang="en-US" sz="1250" dirty="0"/>
          </a:p>
        </p:txBody>
      </p:sp>
      <p:pic>
        <p:nvPicPr>
          <p:cNvPr id="5" name="Image 0" descr="/mnt/data/cnn-receptive-field-study/presentation/assets/06_mnist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5605272" cy="3849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Macro-F1 vs. Kernel Size</a:t>
            </a:r>
            <a:endParaRPr lang="en-US" sz="1250" dirty="0"/>
          </a:p>
        </p:txBody>
      </p:sp>
      <p:pic>
        <p:nvPicPr>
          <p:cNvPr id="8" name="Image 1" descr="/mnt/data/cnn-receptive-field-study/presentation/assets/06_mnist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865376"/>
            <a:ext cx="5605272" cy="3849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&amp; DepthwiseCNN: ~97–99% from k=3 onward  ·  SimpleCNN: 26% at k=1, peak ~89% at k=21  ·  Larger kernels partly compensate for a shallow model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 Results - Test Accuracy &amp; Macro-F1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Accuracy vs. Kernel Size</a:t>
            </a:r>
            <a:endParaRPr lang="en-US" sz="1250" dirty="0"/>
          </a:p>
        </p:txBody>
      </p:sp>
      <p:pic>
        <p:nvPicPr>
          <p:cNvPr id="5" name="Image 0" descr="/mnt/data/cnn-receptive-field-study/presentation/assets/07_c10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5605272" cy="3849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Macro-F1 vs. Kernel Size</a:t>
            </a:r>
            <a:endParaRPr lang="en-US" sz="1250" dirty="0"/>
          </a:p>
        </p:txBody>
      </p:sp>
      <p:pic>
        <p:nvPicPr>
          <p:cNvPr id="8" name="Image 1" descr="/mnt/data/cnn-receptive-field-study/presentation/assets/07_c10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865376"/>
            <a:ext cx="5605272" cy="3849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peaks at ~67% around k=7  ·  DepthwiseCNN reaches ~61% around k=9–11, then declines  ·  SimpleCNN remains ~31–45%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CIFAR-100 Results - Test Accuracy &amp; Macro-F1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Accuracy vs. Kernel Size</a:t>
            </a:r>
            <a:endParaRPr lang="en-US" sz="1250" dirty="0"/>
          </a:p>
        </p:txBody>
      </p:sp>
      <p:pic>
        <p:nvPicPr>
          <p:cNvPr id="5" name="Image 0" descr="/mnt/data/cnn-receptive-field-study/presentation/assets/08_c100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5605272" cy="3849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261872"/>
            <a:ext cx="5715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46304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Macro-F1 vs. Kernel Size</a:t>
            </a:r>
            <a:endParaRPr lang="en-US" sz="1250" dirty="0"/>
          </a:p>
        </p:txBody>
      </p:sp>
      <p:pic>
        <p:nvPicPr>
          <p:cNvPr id="8" name="Image 1" descr="/mnt/data/cnn-receptive-field-study/presentation/assets/08_c100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865376"/>
            <a:ext cx="5605272" cy="3849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peaks at ~30% around k=9  ·  Performance drops for very large kernels  ·  SimpleCNN stagnates around ~10–15%, indicating insufficient capacity for 100 classes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Comparison by Model Type Across Datasets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37947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SimpleCNN</a:t>
            </a:r>
            <a:endParaRPr lang="en-US" sz="1250" dirty="0"/>
          </a:p>
        </p:txBody>
      </p:sp>
      <p:pic>
        <p:nvPicPr>
          <p:cNvPr id="5" name="Image 0" descr="/mnt/data/cnn-receptive-field-study/presentation/assets/09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3685032" cy="40325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97096" y="1261872"/>
            <a:ext cx="37947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34256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</a:t>
            </a:r>
            <a:endParaRPr lang="en-US" sz="1250" dirty="0"/>
          </a:p>
        </p:txBody>
      </p:sp>
      <p:pic>
        <p:nvPicPr>
          <p:cNvPr id="8" name="Image 1" descr="/mnt/data/cnn-receptive-field-study/presentation/assets/09_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65376"/>
            <a:ext cx="3685032" cy="40325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47304" y="1261872"/>
            <a:ext cx="37947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84464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DepthwiseCNN</a:t>
            </a:r>
            <a:endParaRPr lang="en-US" sz="1250" dirty="0"/>
          </a:p>
        </p:txBody>
      </p:sp>
      <p:pic>
        <p:nvPicPr>
          <p:cNvPr id="11" name="Image 2" descr="/mnt/data/cnn-receptive-field-study/presentation/assets/09_depthwi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865376"/>
            <a:ext cx="3685032" cy="40325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Across all architectures: MNIST is easiest, CIFAR-10 is intermediate, and CIFAR-100 is hardest because of the 100-class setting and small image size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Training Time vs. Kernel Size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</a:t>
            </a:r>
            <a:endParaRPr lang="en-US" sz="1250" dirty="0"/>
          </a:p>
        </p:txBody>
      </p:sp>
      <p:pic>
        <p:nvPicPr>
          <p:cNvPr id="5" name="Image 0" descr="/mnt/data/cnn-receptive-field-study/presentation/assets/10_mn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3685032" cy="3941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97096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34256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</a:t>
            </a:r>
            <a:endParaRPr lang="en-US" sz="1250" dirty="0"/>
          </a:p>
        </p:txBody>
      </p:sp>
      <p:pic>
        <p:nvPicPr>
          <p:cNvPr id="8" name="Image 1" descr="/mnt/data/cnn-receptive-field-study/presentation/assets/10_c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65376"/>
            <a:ext cx="3685032" cy="39410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47304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84464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CIFAR-100</a:t>
            </a:r>
            <a:endParaRPr lang="en-US" sz="1250" dirty="0"/>
          </a:p>
        </p:txBody>
      </p:sp>
      <p:pic>
        <p:nvPicPr>
          <p:cNvPr id="11" name="Image 2" descr="/mnt/data/cnn-receptive-field-study/presentation/assets/10_c1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865376"/>
            <a:ext cx="3685032" cy="394106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 k=28: DeepCNN ~1250 s (&gt;20 min)  ·  DepthwiseCNN ~350 s (~3.5× faster)  ·  SimpleCNN ~50 s  ·  Standard convolution cost grows roughly with k²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Parameter Count vs. Kernel Size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46888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</a:t>
            </a:r>
            <a:endParaRPr lang="en-US" sz="1250" dirty="0"/>
          </a:p>
        </p:txBody>
      </p:sp>
      <p:pic>
        <p:nvPicPr>
          <p:cNvPr id="5" name="Image 0" descr="/mnt/data/cnn-receptive-field-study/presentation/assets/11_mn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65376"/>
            <a:ext cx="3685032" cy="3941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97096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34256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</a:t>
            </a:r>
            <a:endParaRPr lang="en-US" sz="1250" dirty="0"/>
          </a:p>
        </p:txBody>
      </p:sp>
      <p:pic>
        <p:nvPicPr>
          <p:cNvPr id="8" name="Image 1" descr="/mnt/data/cnn-receptive-field-study/presentation/assets/11_c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65376"/>
            <a:ext cx="3685032" cy="39410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47304" y="1261872"/>
            <a:ext cx="37947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84464" y="1463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E8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CIFAR-100</a:t>
            </a:r>
            <a:endParaRPr lang="en-US" sz="1250" dirty="0"/>
          </a:p>
        </p:txBody>
      </p:sp>
      <p:pic>
        <p:nvPicPr>
          <p:cNvPr id="11" name="Image 2" descr="/mnt/data/cnn-receptive-field-study/presentation/assets/11_c1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865376"/>
            <a:ext cx="3685032" cy="394106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28600" y="6053328"/>
            <a:ext cx="11731752" cy="530352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" y="6208776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 k=28: DeepCNN ~8M parameters  ·  DepthwiseCNN ~130k (~60× smaller)  ·  SimpleCNN ~90k  ·  Separating depthwise and pointwise convolution dramatically reduces parameters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Global Average Pooling (GAP)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4937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371600"/>
            <a:ext cx="4937760" cy="338328"/>
          </a:xfrm>
          <a:prstGeom prst="rect">
            <a:avLst/>
          </a:prstGeom>
          <a:solidFill>
            <a:srgbClr val="1E79B7"/>
          </a:solidFill>
          <a:ln w="12700">
            <a:solidFill>
              <a:srgbClr val="1E79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4356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does GAP do?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7784" y="1810512"/>
            <a:ext cx="4645152" cy="1527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pooling layer for CNNs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Averages each feature map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Produces one value per channel</a:t>
            </a:r>
            <a:endParaRPr lang="en-US" sz="1150" dirty="0"/>
          </a:p>
          <a:p>
            <a:endParaRPr lang="en-US" sz="1150" dirty="0"/>
          </a:p>
          <a:p>
            <a:r>
              <a:rPr lang="en-US" sz="11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Reduces the number of classifier parameters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389120" cy="1783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1363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self.classifier = nn.Sequential(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nn.AdaptiveAvgPool2d((1, 1)),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nn.Flatten(),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nn.Linear(128, 128),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nn.ReLU(inplace=True),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nn.Dropout(0.3),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nn.Linear(128, num_classes),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389888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E79B7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49047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Feature maps (128 × H × W)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17536" y="17830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947672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0482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AdaptiveAvgPool2d((1,1))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17536" y="23408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505456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6060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128 × 1 ×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17536" y="28986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063240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1638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Flatten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17536" y="34564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621024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72160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Linear(128→128)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17536" y="4014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178808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42793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ReLU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17536" y="45720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736592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8371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Dropout(0.3)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17536" y="5129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5294376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16A8CE"/>
          </a:solidFill>
          <a:ln w="12700">
            <a:solidFill>
              <a:srgbClr val="0B7B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539496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Linear(128→num_classes)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64040" y="14904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convolution output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464040" y="2048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global average pooling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464040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value per channel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9464040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2D → vector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464040" y="3721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fully connected layer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464040" y="4279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activation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464040" y="48371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regularization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464040" y="5394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78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class logits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40080" y="5687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Adaptive pooling automatically handles different spatial input sizes.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8A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CNN Receptive Field Study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8C99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Summary &amp; Conclusions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1325880"/>
          </a:xfrm>
          <a:prstGeom prst="rect">
            <a:avLst/>
          </a:prstGeom>
          <a:solidFill>
            <a:srgbClr val="132B43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44752"/>
            <a:ext cx="502920" cy="502920"/>
          </a:xfrm>
          <a:prstGeom prst="ellipse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910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1444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Optimal kernel size depends on the dataset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181051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MNIST: k=21 for SimpleCNN, k≈3–5 for Deep/DW. CIFAR-10/100: k≈7–9 is usually strongest; very large kernels tend to hurt.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1325880"/>
          </a:xfrm>
          <a:prstGeom prst="rect">
            <a:avLst/>
          </a:prstGeom>
          <a:solidFill>
            <a:srgbClr val="132B43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444752"/>
            <a:ext cx="502920" cy="502920"/>
          </a:xfrm>
          <a:prstGeom prst="ellipse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5910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0" y="1444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 matters more than kernel size for accuracy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0" y="181051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consistently outperforms SimpleCNN at the same kernel size. More layers provide higher capacity and stronger feature extraction.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971800" y="2880360"/>
            <a:ext cx="6263640" cy="1051560"/>
          </a:xfrm>
          <a:prstGeom prst="rect">
            <a:avLst/>
          </a:prstGeom>
          <a:solidFill>
            <a:srgbClr val="132B43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6392" y="3044952"/>
            <a:ext cx="502920" cy="502920"/>
          </a:xfrm>
          <a:prstGeom prst="ellipse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31912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304495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Receptive field ≠ performance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94760" y="3410712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larger receptive field is not automatically better: oversized kernels reduce performance for several model–dataset combinations.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303520" cy="1325880"/>
          </a:xfrm>
          <a:prstGeom prst="rect">
            <a:avLst/>
          </a:prstGeom>
          <a:solidFill>
            <a:srgbClr val="132B43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416552"/>
            <a:ext cx="502920" cy="502920"/>
          </a:xfrm>
          <a:prstGeom prst="ellipse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628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DepthwiseCNN is an efficient compromise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71600" y="478231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Around 60× fewer parameters and ~3.5× faster training than DeepCNN at k=28, with only a modest accuracy loss.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309360" y="4251960"/>
            <a:ext cx="5303520" cy="1325880"/>
          </a:xfrm>
          <a:prstGeom prst="rect">
            <a:avLst/>
          </a:prstGeom>
          <a:solidFill>
            <a:srgbClr val="132B43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416552"/>
            <a:ext cx="502920" cy="502920"/>
          </a:xfrm>
          <a:prstGeom prst="ellipse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45628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B5D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Training cost rises sharply with kernel size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0" y="4782312"/>
            <a:ext cx="42519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DeepCNN grows from roughly ~50 s at small kernels to ~1250 s at k=28. Large standard kernels are computationally expensive.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108960" y="63550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8C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90 runs · 3 datasets · 3 models · 10 kernel sizes · 5 epochs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3B5D1"/>
          </a:solidFill>
          <a:ln w="12700">
            <a:solidFill>
              <a:srgbClr val="13B5D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Receptive Field Study</dc:title>
  <dc:subject>Receptive field and kernel size study across CNN architectures</dc:subject>
  <dc:creator>CNN Receptive Field Study</dc:creator>
  <cp:lastModifiedBy>CNN Receptive Field Study</cp:lastModifiedBy>
  <cp:revision>1</cp:revision>
  <dcterms:created xsi:type="dcterms:W3CDTF">2026-09-02T08:56:49Z</dcterms:created>
  <dcterms:modified xsi:type="dcterms:W3CDTF">2026-09-02T08:56:49Z</dcterms:modified>
</cp:coreProperties>
</file>